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632283633c4c11" /><Relationship Type="http://schemas.openxmlformats.org/officeDocument/2006/relationships/extended-properties" Target="/docProps/app.xml" Id="R831128bf99444f6f" /><Relationship Type="http://schemas.openxmlformats.org/officeDocument/2006/relationships/officeDocument" Target="/ppt/presentation.xml" Id="R54f3f3fc164048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f1c560ceb341f2"/>
  </p:sldMasterIdLst>
  <p:notesMasterIdLst>
    <p:notesMasterId xmlns:r="http://schemas.openxmlformats.org/officeDocument/2006/relationships" r:id="R76a0275d8b404f95"/>
  </p:notesMasterIdLst>
  <p:sldIdLst>
    <p:sldId xmlns:r="http://schemas.openxmlformats.org/officeDocument/2006/relationships" id="256" r:id="Rc9c70b0fe05344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260d4d97f34f81" /><Relationship Type="http://schemas.openxmlformats.org/officeDocument/2006/relationships/slideMaster" Target="/ppt/slideMasters/slideMaster1.xml" Id="Ra7f1c560ceb341f2" /><Relationship Type="http://schemas.openxmlformats.org/officeDocument/2006/relationships/notesMaster" Target="/ppt/notesMasters/notesMaster1.xml" Id="R76a0275d8b404f95" /><Relationship Type="http://schemas.openxmlformats.org/officeDocument/2006/relationships/presProps" Target="/ppt/presProps.xml" Id="R2a5e02cbc2624b62" /><Relationship Type="http://schemas.openxmlformats.org/officeDocument/2006/relationships/tableStyles" Target="/ppt/tableStyles.xml" Id="R63d6a347b6554dc3" /><Relationship Type="http://schemas.openxmlformats.org/officeDocument/2006/relationships/slide" Target="/ppt/slides/slide1.xml" Id="Rc9c70b0fe05344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9b9f8e8fe04b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94c6c128174033" /><Relationship Type="http://schemas.openxmlformats.org/officeDocument/2006/relationships/notesMaster" Target="/ppt/notesMasters/notesMaster1.xml" Id="R07d7d13dbe4f4f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data created for this layout mockup; no external sources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652c86215647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d47a4898074f5f" /><Relationship Type="http://schemas.openxmlformats.org/officeDocument/2006/relationships/slideLayout" Target="/ppt/slideLayouts/slideLayout1.xml" Id="Ra6d7af57dedf4f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d7af57dedf4f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fecc878434e40" /><Relationship Type="http://schemas.openxmlformats.org/officeDocument/2006/relationships/chart" Target="/ppt/slides/charts/chart1.xml" Id="Rc982622dd3a54b65" /><Relationship Type="http://schemas.openxmlformats.org/officeDocument/2006/relationships/notesSlide" Target="/ppt/notesSlides/notesSlide1.xml" Id="Rac0518a50f5744cd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000000"/>
                </a:solidFill>
              </a:rPr>
              <a:t>Risk versus exposure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000000"/>
              </a:solidFill>
            </a:defRPr>
          </a:pPr>
        </a:p>
      </c:txPr>
    </c:title>
    <c:plotArea>
      <c:bubbleChart>
        <c:ser>
          <c:idx val="0"/>
          <c:order val="0"/>
          <c:tx>
            <c:v>FT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9525">
              <a:solidFill>
                <a:srgbClr val="1F5FBF"/>
              </a:solidFill>
              <a:prstDash val="solid"/>
            </a:ln>
          </c:spPr>
          <c:dLbls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FFFFFF"/>
                        </a:solidFill>
                      </a:rPr>
                      <a:t>Model 6 / FT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xVal>
            <c:numLit>
              <c:formatCode>General</c:formatCode>
              <c:ptCount val="10"/>
              <c:pt idx="0">
                <c:v>0.12</c:v>
              </c:pt>
              <c:pt idx="1">
                <c:v>0.18</c:v>
              </c:pt>
              <c:pt idx="2">
                <c:v>0.25</c:v>
              </c:pt>
              <c:pt idx="3">
                <c:v>0.32</c:v>
              </c:pt>
              <c:pt idx="4">
                <c:v>0.43</c:v>
              </c:pt>
              <c:pt idx="5">
                <c:v>0.56</c:v>
              </c:pt>
              <c:pt idx="6">
                <c:v>0.36</c:v>
              </c:pt>
              <c:pt idx="7">
                <c:v>0.22</c:v>
              </c:pt>
              <c:pt idx="8">
                <c:v>0.31</c:v>
              </c:pt>
              <c:pt idx="9">
                <c:v>0.47</c:v>
              </c:pt>
            </c:numLit>
          </c:xVal>
          <c:yVal>
            <c:numLit>
              <c:formatCode>0%</c:formatCode>
              <c:ptCount val="10"/>
              <c:pt idx="0">
                <c:v>0.022</c:v>
              </c:pt>
              <c:pt idx="1">
                <c:v>0.035</c:v>
              </c:pt>
              <c:pt idx="2">
                <c:v>0.041</c:v>
              </c:pt>
              <c:pt idx="3">
                <c:v>0.055</c:v>
              </c:pt>
              <c:pt idx="4">
                <c:v>0.072</c:v>
              </c:pt>
              <c:pt idx="5">
                <c:v>0.118</c:v>
              </c:pt>
              <c:pt idx="6">
                <c:v>0.048</c:v>
              </c:pt>
              <c:pt idx="7">
                <c:v>0.029</c:v>
              </c:pt>
              <c:pt idx="8">
                <c:v>0.061</c:v>
              </c:pt>
              <c:pt idx="9">
                <c:v>0.081</c:v>
              </c:pt>
            </c:numLit>
          </c:yVal>
          <c:bubbleSize>
            <c:numLit>
              <c:formatCode>General</c:formatCode>
              <c:ptCount val="10"/>
              <c:pt idx="0">
                <c:v>68</c:v>
              </c:pt>
              <c:pt idx="1">
                <c:v>54</c:v>
              </c:pt>
              <c:pt idx="2">
                <c:v>92</c:v>
              </c:pt>
              <c:pt idx="3">
                <c:v>72</c:v>
              </c:pt>
              <c:pt idx="4">
                <c:v>115</c:v>
              </c:pt>
              <c:pt idx="5">
                <c:v>104</c:v>
              </c:pt>
              <c:pt idx="6">
                <c:v>59</c:v>
              </c:pt>
              <c:pt idx="7">
                <c:v>42</c:v>
              </c:pt>
              <c:pt idx="8">
                <c:v>97</c:v>
              </c:pt>
              <c:pt idx="9">
                <c:v>76</c:v>
              </c:pt>
            </c:numLit>
          </c:bubbleSize>
        </c:ser>
        <c:ser>
          <c:idx val="1"/>
          <c:order val="1"/>
          <c:tx>
            <c:v>AU</c:v>
          </c:tx>
          <c:spPr>
            <a:solidFill xmlns:a="http://schemas.openxmlformats.org/drawingml/2006/main">
              <a:srgbClr val="F28E2B"/>
            </a:solidFill>
            <a:ln xmlns:a="http://schemas.openxmlformats.org/drawingml/2006/main" w="9525">
              <a:solidFill>
                <a:srgbClr val="B85F00"/>
              </a:solidFill>
              <a:prstDash val="solid"/>
            </a:ln>
          </c:spPr>
          <c:dLbls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FFFFFF"/>
                        </a:solidFill>
                      </a:rPr>
                      <a:t>Model 6 / AU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FFFFFF"/>
                        </a:solidFill>
                      </a:rPr>
                      <a:t>Model 7 / AU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FFFFFF"/>
                        </a:solidFill>
                      </a:rPr>
                      <a:t>Model 9 / AU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xVal>
            <c:numLit>
              <c:formatCode>General</c:formatCode>
              <c:ptCount val="10"/>
              <c:pt idx="0">
                <c:v>0.15</c:v>
              </c:pt>
              <c:pt idx="1">
                <c:v>0.28</c:v>
              </c:pt>
              <c:pt idx="2">
                <c:v>0.38</c:v>
              </c:pt>
              <c:pt idx="3">
                <c:v>0.41</c:v>
              </c:pt>
              <c:pt idx="4">
                <c:v>0.55</c:v>
              </c:pt>
              <c:pt idx="5">
                <c:v>0.62</c:v>
              </c:pt>
              <c:pt idx="6">
                <c:v>0.95</c:v>
              </c:pt>
              <c:pt idx="7">
                <c:v>0.35</c:v>
              </c:pt>
              <c:pt idx="8">
                <c:v>0.78</c:v>
              </c:pt>
              <c:pt idx="9">
                <c:v>0.58</c:v>
              </c:pt>
            </c:numLit>
          </c:xVal>
          <c:yVal>
            <c:numLit>
              <c:formatCode>0%</c:formatCode>
              <c:ptCount val="10"/>
              <c:pt idx="0">
                <c:v>0.03</c:v>
              </c:pt>
              <c:pt idx="1">
                <c:v>0.05</c:v>
              </c:pt>
              <c:pt idx="2">
                <c:v>0.067</c:v>
              </c:pt>
              <c:pt idx="3">
                <c:v>0.083</c:v>
              </c:pt>
              <c:pt idx="4">
                <c:v>0.07</c:v>
              </c:pt>
              <c:pt idx="5">
                <c:v>0.105</c:v>
              </c:pt>
              <c:pt idx="6">
                <c:v>0.17</c:v>
              </c:pt>
              <c:pt idx="7">
                <c:v>0.045</c:v>
              </c:pt>
              <c:pt idx="8">
                <c:v>0.14</c:v>
              </c:pt>
              <c:pt idx="9">
                <c:v>0.075</c:v>
              </c:pt>
            </c:numLit>
          </c:yVal>
          <c:bubbleSize>
            <c:numLit>
              <c:formatCode>General</c:formatCode>
              <c:ptCount val="10"/>
              <c:pt idx="0">
                <c:v>61</c:v>
              </c:pt>
              <c:pt idx="1">
                <c:v>83</c:v>
              </c:pt>
              <c:pt idx="2">
                <c:v>101</c:v>
              </c:pt>
              <c:pt idx="3">
                <c:v>78</c:v>
              </c:pt>
              <c:pt idx="4">
                <c:v>120</c:v>
              </c:pt>
              <c:pt idx="5">
                <c:v>108</c:v>
              </c:pt>
              <c:pt idx="6">
                <c:v>144</c:v>
              </c:pt>
              <c:pt idx="7">
                <c:v>55</c:v>
              </c:pt>
              <c:pt idx="8">
                <c:v>132</c:v>
              </c:pt>
              <c:pt idx="9">
                <c:v>88</c:v>
              </c:pt>
            </c:numLit>
          </c:bubbleSize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333333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ubbleChart>
      <c:valAx>
        <c:axId val="48672768"/>
        <c:scaling>
          <c:orientation val="minMax"/>
          <c:max val="0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6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 b="1">
                    <a:solidFill>
                      <a:srgbClr val="333333"/>
                    </a:solidFill>
                  </a:rPr>
                  <a:t>Population moving &gt;1 GH band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333333"/>
                  </a:solidFill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9E9E9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3333"/>
                </a:solidFill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1.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6E6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 b="1">
                    <a:solidFill>
                      <a:srgbClr val="333333"/>
                    </a:solidFill>
                  </a:rPr>
                  <a:t>Gini deterioration (percentage points)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333333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9E9E9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3333"/>
                </a:solidFill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AFAFA"/>
        </a:solidFill>
        <a:ln xmlns:a="http://schemas.openxmlformats.org/drawingml/2006/main" w="9525">
          <a:solidFill>
            <a:srgbClr val="D9D9D9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3333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headline">
            <a:extLst xmlns:a="http://schemas.openxmlformats.org/drawingml/2006/main">
              <a:ext uri="{FF2B5EF4-FFF2-40B4-BE49-F238E27FC236}">
                <a16:creationId xmlns:a16="http://schemas.microsoft.com/office/drawing/2014/main" id="{04EB97A5-EA00-44C6-959C-ABA134BE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Implementation risk is concentrated in four model–migration pairs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12A83D-4A46-4F56-A34F-24B9E490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D4D4D"/>
                </a:solidFill>
                <a:latin typeface="Arial"/>
                <a:ea typeface="Arial"/>
                <a:cs typeface="Arial"/>
              </a:rPr>
              <a:t>Illustrative view of 10 models × FT/AU | prioritize high-impact, high-exposure outliers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57200" y="1466850"/>
          <a:ext xmlns:a="http://schemas.openxmlformats.org/drawingml/2006/main" cx="7391400" cy="4324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82622dd3a54b65"/>
          </a:graphicData>
        </a:graphic>
      </p:graphicFrame>
      <p:sp>
        <p:nvSpPr>
          <p:cNvPr id="4" name="tolerance-note">
            <a:extLst xmlns:a="http://schemas.openxmlformats.org/drawingml/2006/main">
              <a:ext uri="{FF2B5EF4-FFF2-40B4-BE49-F238E27FC236}">
                <a16:creationId xmlns:a16="http://schemas.microsoft.com/office/drawing/2014/main" id="{32F143DB-A289-4AB2-9352-78E34197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6666"/>
                </a:solidFill>
                <a:latin typeface="Arial"/>
                <a:ea typeface="Arial"/>
                <a:cs typeface="Arial"/>
              </a:rPr>
              <a:t>Illustrative materiality: ΔGini &gt;0.5 pp and &gt;8% of the population moving more than one GH band</a:t>
            </a:r>
          </a:p>
        </p:txBody>
      </p:sp>
      <p:sp>
        <p:nvSpPr>
          <p:cNvPr id="5" name="callout-panel-154">
            <a:extLst xmlns:a="http://schemas.openxmlformats.org/drawingml/2006/main">
              <a:ext uri="{FF2B5EF4-FFF2-40B4-BE49-F238E27FC236}">
                <a16:creationId xmlns:a16="http://schemas.microsoft.com/office/drawing/2014/main" id="{FC3978AE-B97D-4A1E-8B72-95DB523F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6685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callout-accent-154">
            <a:extLst xmlns:a="http://schemas.openxmlformats.org/drawingml/2006/main">
              <a:ext uri="{FF2B5EF4-FFF2-40B4-BE49-F238E27FC236}">
                <a16:creationId xmlns:a16="http://schemas.microsoft.com/office/drawing/2014/main" id="{413B31BD-EA7B-4958-883C-C2F0C432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668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callout-metric-154">
            <a:extLst xmlns:a="http://schemas.openxmlformats.org/drawingml/2006/main">
              <a:ext uri="{FF2B5EF4-FFF2-40B4-BE49-F238E27FC236}">
                <a16:creationId xmlns:a16="http://schemas.microsoft.com/office/drawing/2014/main" id="{C113C6D4-EEAC-4E53-8688-CAC55306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57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 of 20</a:t>
            </a:r>
          </a:p>
        </p:txBody>
      </p:sp>
      <p:sp>
        <p:nvSpPr>
          <p:cNvPr id="8" name="callout-label-154">
            <a:extLst xmlns:a="http://schemas.openxmlformats.org/drawingml/2006/main">
              <a:ext uri="{FF2B5EF4-FFF2-40B4-BE49-F238E27FC236}">
                <a16:creationId xmlns:a16="http://schemas.microsoft.com/office/drawing/2014/main" id="{1C3825EA-DD02-4A5C-BDD8-2F3F74B0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336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333333"/>
                </a:solidFill>
                <a:latin typeface="Arial"/>
                <a:ea typeface="Arial"/>
                <a:cs typeface="Arial"/>
              </a:rPr>
              <a:t>model/migration pairs sit above the illustrative materiality threshold</a:t>
            </a:r>
          </a:p>
        </p:txBody>
      </p:sp>
      <p:sp>
        <p:nvSpPr>
          <p:cNvPr id="9" name="callout-panel-304">
            <a:extLst xmlns:a="http://schemas.openxmlformats.org/drawingml/2006/main">
              <a:ext uri="{FF2B5EF4-FFF2-40B4-BE49-F238E27FC236}">
                <a16:creationId xmlns:a16="http://schemas.microsoft.com/office/drawing/2014/main" id="{B8FAA963-B481-4886-96AB-D22AD75C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0" name="callout-accent-304">
            <a:extLst xmlns:a="http://schemas.openxmlformats.org/drawingml/2006/main">
              <a:ext uri="{FF2B5EF4-FFF2-40B4-BE49-F238E27FC236}">
                <a16:creationId xmlns:a16="http://schemas.microsoft.com/office/drawing/2014/main" id="{31C2E3F7-B13D-47FE-A8E9-F5721A6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callout-metric-304">
            <a:extLst xmlns:a="http://schemas.openxmlformats.org/drawingml/2006/main">
              <a:ext uri="{FF2B5EF4-FFF2-40B4-BE49-F238E27FC236}">
                <a16:creationId xmlns:a16="http://schemas.microsoft.com/office/drawing/2014/main" id="{7F52E185-0C06-4312-8BD2-2B6C81C7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78%</a:t>
            </a:r>
          </a:p>
        </p:txBody>
      </p:sp>
      <p:sp>
        <p:nvSpPr>
          <p:cNvPr id="12" name="callout-label-304">
            <a:extLst xmlns:a="http://schemas.openxmlformats.org/drawingml/2006/main">
              <a:ext uri="{FF2B5EF4-FFF2-40B4-BE49-F238E27FC236}">
                <a16:creationId xmlns:a16="http://schemas.microsoft.com/office/drawing/2014/main" id="{26E9E453-52D8-4B20-B080-66A35573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623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333333"/>
                </a:solidFill>
                <a:latin typeface="Arial"/>
                <a:ea typeface="Arial"/>
                <a:cs typeface="Arial"/>
              </a:rPr>
              <a:t>of affected population remains in the low-risk region</a:t>
            </a:r>
          </a:p>
        </p:txBody>
      </p:sp>
      <p:sp>
        <p:nvSpPr>
          <p:cNvPr id="13" name="callout-panel-454">
            <a:extLst xmlns:a="http://schemas.openxmlformats.org/drawingml/2006/main">
              <a:ext uri="{FF2B5EF4-FFF2-40B4-BE49-F238E27FC236}">
                <a16:creationId xmlns:a16="http://schemas.microsoft.com/office/drawing/2014/main" id="{25A67F78-A841-40CD-9FC9-20A07044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2435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callout-accent-454">
            <a:extLst xmlns:a="http://schemas.openxmlformats.org/drawingml/2006/main">
              <a:ext uri="{FF2B5EF4-FFF2-40B4-BE49-F238E27FC236}">
                <a16:creationId xmlns:a16="http://schemas.microsoft.com/office/drawing/2014/main" id="{82BE7AC4-98BD-4FDB-A943-9DF446FD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243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15" name="callout-metric-454">
            <a:extLst xmlns:a="http://schemas.openxmlformats.org/drawingml/2006/main">
              <a:ext uri="{FF2B5EF4-FFF2-40B4-BE49-F238E27FC236}">
                <a16:creationId xmlns:a16="http://schemas.microsoft.com/office/drawing/2014/main" id="{F664B4BB-8138-486E-A061-71349FA8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148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 AU + 1 FT</a:t>
            </a:r>
          </a:p>
        </p:txBody>
      </p:sp>
      <p:sp>
        <p:nvSpPr>
          <p:cNvPr id="16" name="callout-label-454">
            <a:extLst xmlns:a="http://schemas.openxmlformats.org/drawingml/2006/main">
              <a:ext uri="{FF2B5EF4-FFF2-40B4-BE49-F238E27FC236}">
                <a16:creationId xmlns:a16="http://schemas.microsoft.com/office/drawing/2014/main" id="{C2189C95-0C21-4A16-A81C-D4D140DF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911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333333"/>
                </a:solidFill>
                <a:latin typeface="Arial"/>
                <a:ea typeface="Arial"/>
                <a:cs typeface="Arial"/>
              </a:rPr>
              <a:t>Model 6/FT and Models 6, 7, 9/AU require mitigation before rollout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993BD1C9-A2C7-415F-B31B-B234735C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6666"/>
                </a:solidFill>
                <a:latin typeface="Arial"/>
                <a:ea typeface="Arial"/>
                <a:cs typeface="Arial"/>
              </a:rPr>
              <a:t>ILLUSTRATIVE DATA — replace with validated portfolio results  |  Bubble size = affected population</a:t>
            </a:r>
          </a:p>
        </p:txBody>
      </p:sp>
      <p:sp>
        <p:nvSpPr>
          <p:cNvPr id="1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9D1B183-8E65-4A66-8F85-BD6011D8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29824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2026-08-31T08:02:54.3640000Z</dcterms:created>
  <dcterms:modified xsi:type="dcterms:W3CDTF">2026-08-31T08:02:54.3640000Z</dcterms:modified>
</coreProperties>
</file>